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48640"/>
            <a:ext cx="4114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411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0A0A0A"/>
                </a:solidFill>
                <a:latin typeface="Calibri"/>
              </a:defRPr>
            </a:pPr>
            <a:r>
              <a:t>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566928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notso.ai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59436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A8A84"/>
                </a:solidFill>
                <a:latin typeface="Calibri"/>
              </a:defRPr>
            </a:pPr>
            <a:r>
              <a:t>Internal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91440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Proposal Generator</a:t>
            </a:r>
            <a:br/>
            <a:r>
              <a:t>System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5B5BD6"/>
                </a:solidFill>
                <a:latin typeface="Calibri"/>
              </a:defRPr>
            </a:pPr>
            <a:r>
              <a:t>auto-proposal-gen → notso-proposal-gen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035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8A8A84"/>
                </a:solidFill>
                <a:latin typeface="Calibri"/>
              </a:defRPr>
            </a:pPr>
            <a:r>
              <a:t>Weekly Standup  ·  April 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0A0A0A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8A8A84"/>
                </a:solidFill>
                <a:latin typeface="Calibri"/>
              </a:defRPr>
            </a:pPr>
            <a:r>
              <a:t>What we'll cover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502920" cy="502920"/>
          </a:xfrm>
          <a:prstGeom prst="round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3657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A0A0A"/>
                </a:solidFill>
                <a:latin typeface="Calibri"/>
              </a:defRPr>
            </a:pPr>
            <a:r>
              <a:t>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04288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8A8A84"/>
                </a:solidFill>
                <a:latin typeface="Calibri"/>
              </a:defRPr>
            </a:pPr>
            <a:r>
              <a:t>Quick demo of the new system in 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502920" cy="502920"/>
          </a:xfrm>
          <a:prstGeom prst="round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3657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A0A0A"/>
                </a:solidFill>
                <a:latin typeface="Calibri"/>
              </a:defRPr>
            </a:pPr>
            <a:r>
              <a:t>Problems with v1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172968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8A8A84"/>
                </a:solidFill>
                <a:latin typeface="Calibri"/>
              </a:defRPr>
            </a:pPr>
            <a:r>
              <a:t>Four key issues with auto-proposal-gen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49039"/>
            <a:ext cx="502920" cy="502920"/>
          </a:xfrm>
          <a:prstGeom prst="round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49039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749039"/>
            <a:ext cx="3657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A0A0A"/>
                </a:solidFill>
                <a:latin typeface="Calibri"/>
              </a:defRPr>
            </a:pPr>
            <a:r>
              <a:t>What changed in 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041648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8A8A84"/>
                </a:solidFill>
                <a:latin typeface="Calibri"/>
              </a:defRPr>
            </a:pPr>
            <a:r>
              <a:t>How notso-proposal-gen solves each problem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17720"/>
            <a:ext cx="502920" cy="502920"/>
          </a:xfrm>
          <a:prstGeom prst="round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61772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617720"/>
            <a:ext cx="3657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A0A0A"/>
                </a:solidFill>
                <a:latin typeface="Calibri"/>
              </a:defRPr>
            </a:pPr>
            <a:r>
              <a:t>Canva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910328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8A8A84"/>
                </a:solidFill>
                <a:latin typeface="Calibri"/>
              </a:defRPr>
            </a:pPr>
            <a:r>
              <a:t>Next step: automated slide generation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486400"/>
            <a:ext cx="502920" cy="502920"/>
          </a:xfrm>
          <a:prstGeom prst="round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48640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486400"/>
            <a:ext cx="3657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A0A0A"/>
                </a:solidFill>
                <a:latin typeface="Calibri"/>
              </a:defRPr>
            </a:pPr>
            <a:r>
              <a:t>What I need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779008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8A8A84"/>
                </a:solidFill>
                <a:latin typeface="Calibri"/>
              </a:defRPr>
            </a:pPr>
            <a:r>
              <a:t>Canva Pro + Gemini API Key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8A8A84"/>
                </a:solidFill>
                <a:latin typeface="Calibri"/>
              </a:defRPr>
            </a:pPr>
            <a:r>
              <a:t>auto-proposal-gen v1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0A0A0A"/>
                </a:solidFill>
                <a:latin typeface="Calibri"/>
              </a:defRPr>
            </a:pPr>
            <a:r>
              <a:t>4 Key Problems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60604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6060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0">
                <a:solidFill>
                  <a:srgbClr val="0A0A0A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51760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A0A0A"/>
                </a:solidFill>
                <a:latin typeface="Calibri"/>
              </a:defRPr>
            </a:pPr>
            <a:r>
              <a:t>Content Not Specific Enough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00400"/>
            <a:ext cx="219456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A8A84"/>
                </a:solidFill>
                <a:latin typeface="Calibri"/>
              </a:defRPr>
            </a:pPr>
            <a:r>
              <a:t>Had web search, but output was still too generic.</a:t>
            </a:r>
            <a:br/>
            <a:r>
              <a:t>Template variable replacement ({{Client_Name}})</a:t>
            </a:r>
            <a:br/>
            <a:r>
              <a:t>meant every proposal read the same — only</a:t>
            </a:r>
            <a:br/>
            <a:r>
              <a:t>names changed, not the actual thinking.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828800"/>
            <a:ext cx="260604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828800"/>
            <a:ext cx="26060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10312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0">
                <a:solidFill>
                  <a:srgbClr val="0A0A0A"/>
                </a:solidFill>
                <a:latin typeface="Calibri"/>
              </a:defRPr>
            </a:pPr>
            <a:r>
              <a:t>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651760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A0A0A"/>
                </a:solidFill>
                <a:latin typeface="Calibri"/>
              </a:defRPr>
            </a:pPr>
            <a:r>
              <a:t>Incomplete Translation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200400"/>
            <a:ext cx="219456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A8A84"/>
                </a:solidFill>
                <a:latin typeface="Calibri"/>
              </a:defRPr>
            </a:pPr>
            <a:r>
              <a:t>Language switcher existed but had bugs —</a:t>
            </a:r>
            <a:br/>
            <a:r>
              <a:t>some titles, buttons, and UI elements stayed</a:t>
            </a:r>
            <a:br/>
            <a:r>
              <a:t>in English even when switching to other languages.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828800"/>
            <a:ext cx="260604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828800"/>
            <a:ext cx="2606040" cy="54864"/>
          </a:xfrm>
          <a:prstGeom prst="rect">
            <a:avLst/>
          </a:prstGeom>
          <a:solidFill>
            <a:srgbClr val="5B5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10312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0">
                <a:solidFill>
                  <a:srgbClr val="0A0A0A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651760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A0A0A"/>
                </a:solidFill>
                <a:latin typeface="Calibri"/>
              </a:defRPr>
            </a:pPr>
            <a:r>
              <a:t>Hard to Adjust Slides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200400"/>
            <a:ext cx="219456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A8A84"/>
                </a:solidFill>
                <a:latin typeface="Calibri"/>
              </a:defRPr>
            </a:pPr>
            <a:r>
              <a:t>Built-in slide builder was too basic — adjusting</a:t>
            </a:r>
            <a:br/>
            <a:r>
              <a:t>fonts, sizes, image positions, and brand colors</a:t>
            </a:r>
            <a:br/>
            <a:r>
              <a:t>was clunky and required manual 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828800"/>
            <a:ext cx="260604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1828800"/>
            <a:ext cx="2606040" cy="54864"/>
          </a:xfrm>
          <a:prstGeom prst="rect">
            <a:avLst/>
          </a:prstGeom>
          <a:solidFill>
            <a:srgbClr val="8A8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210312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0">
                <a:solidFill>
                  <a:srgbClr val="0A0A0A"/>
                </a:solidFill>
                <a:latin typeface="Calibri"/>
              </a:defRPr>
            </a:pPr>
            <a:r>
              <a:t>✍️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651760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A0A0A"/>
                </a:solidFill>
                <a:latin typeface="Calibri"/>
              </a:defRPr>
            </a:pPr>
            <a:r>
              <a:t>Too Much Manual 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3200400"/>
            <a:ext cx="219456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A8A84"/>
                </a:solidFill>
                <a:latin typeface="Calibri"/>
              </a:defRPr>
            </a:pPr>
            <a:r>
              <a:t>Sales team had to fill in too many fields.</a:t>
            </a:r>
            <a:br/>
            <a:r>
              <a:t>Slowed down the process and made it</a:t>
            </a:r>
            <a:br/>
            <a:r>
              <a:t>feel like extra work instead of a tool.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5B5BD6"/>
                </a:solidFill>
                <a:latin typeface="Calibri"/>
              </a:defRPr>
            </a:pPr>
            <a:r>
              <a:t>Problem →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0A0A0A"/>
                </a:solidFill>
                <a:latin typeface="Calibri"/>
              </a:defRPr>
            </a:pPr>
            <a:r>
              <a:t>From Generic to Hyper-Specific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21208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21208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EF4444"/>
                </a:solidFill>
                <a:latin typeface="Calibri"/>
              </a:defRPr>
            </a:pPr>
            <a:r>
              <a:t>❌  Before: auto-proposal-gen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A0A0A"/>
                </a:solidFill>
                <a:latin typeface="Calibri"/>
              </a:defRPr>
            </a:pPr>
            <a:r>
              <a:t>Template variable replacement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71800"/>
            <a:ext cx="4754880" cy="2926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A8A84"/>
                </a:solidFill>
                <a:latin typeface="Calibri"/>
              </a:defRPr>
            </a:pPr>
            <a:r>
              <a:t>"Dear {{Client_Name}}, your industry {{Industry}}</a:t>
            </a:r>
            <a:br/>
            <a:r>
              <a:t>is facing challenges..."</a:t>
            </a:r>
            <a:br/>
            <a:br/>
            <a:r>
              <a:t>Every proposal was the same essay with</a:t>
            </a:r>
            <a:br/>
            <a:r>
              <a:t>different names plugged in.</a:t>
            </a:r>
            <a:br/>
            <a:br/>
            <a:r>
              <a:t>Had web search, but Claude didn't have</a:t>
            </a:r>
            <a:br/>
            <a:r>
              <a:t>company knowledge — so output was generic.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21208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828800"/>
            <a:ext cx="521208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1031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✅  Now: notso-proposal-gen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6060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A0A0A"/>
                </a:solidFill>
                <a:latin typeface="Calibri"/>
              </a:defRPr>
            </a:pPr>
            <a:r>
              <a:t>Embedded company knowledge + AI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971800"/>
            <a:ext cx="4754880" cy="2926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A8A84"/>
                </a:solidFill>
                <a:latin typeface="Calibri"/>
              </a:defRPr>
            </a:pPr>
            <a:r>
              <a:t>All notso.ai knowledge (pricing, voice, cases,</a:t>
            </a:r>
            <a:br/>
            <a:r>
              <a:t>process) distilled into a System Prompt.</a:t>
            </a:r>
            <a:br/>
            <a:br/>
            <a:r>
              <a:t>Claude thinks inside our brand personality —</a:t>
            </a:r>
            <a:br/>
            <a:r>
              <a:t>every proposal is unique, industry-specific.</a:t>
            </a:r>
            <a:br/>
            <a:br/>
            <a:r>
              <a:t>9-slide JSON schema forces structured output.</a:t>
            </a:r>
            <a:br/>
            <a:r>
              <a:t>2 custom mascot characters per proposal.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5B5BD6"/>
                </a:solidFill>
                <a:latin typeface="Calibri"/>
              </a:defRPr>
            </a:pPr>
            <a:r>
              <a:t>What Else Changed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0A0A0A"/>
                </a:solidFill>
                <a:latin typeface="Calibri"/>
              </a:defRPr>
            </a:pPr>
            <a:r>
              <a:t>3 More Improvements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52044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352044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0">
                <a:solidFill>
                  <a:srgbClr val="0A0A0A"/>
                </a:solidFill>
                <a:latin typeface="Calibri"/>
              </a:defRPr>
            </a:pPr>
            <a:r>
              <a:t>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A0A0A"/>
                </a:solidFill>
                <a:latin typeface="Calibri"/>
              </a:defRPr>
            </a:pPr>
            <a:r>
              <a:t>Language Works Fully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301752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A8A84"/>
                </a:solidFill>
                <a:latin typeface="Calibri"/>
              </a:defRPr>
            </a:pPr>
            <a:r>
              <a:t>Output Language selector in the form.</a:t>
            </a:r>
            <a:br/>
            <a:r>
              <a:t>Claude generates ALL content (titles,</a:t>
            </a:r>
            <a:br/>
            <a:r>
              <a:t>descriptions, chat dialogue) in the</a:t>
            </a:r>
            <a:br/>
            <a:r>
              <a:t>selected language. 8 languages:</a:t>
            </a:r>
            <a:br/>
            <a:r>
              <a:t>EN / 繁中 / 日 / NL / KO / DE / FR / 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52044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3520440" cy="54864"/>
          </a:xfrm>
          <a:prstGeom prst="rect">
            <a:avLst/>
          </a:prstGeom>
          <a:solidFill>
            <a:srgbClr val="5B5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0">
                <a:solidFill>
                  <a:srgbClr val="0A0A0A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51760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A0A0A"/>
                </a:solidFill>
                <a:latin typeface="Calibri"/>
              </a:defRPr>
            </a:pPr>
            <a:r>
              <a:t>Canva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200400"/>
            <a:ext cx="301752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A8A84"/>
                </a:solidFill>
                <a:latin typeface="Calibri"/>
              </a:defRPr>
            </a:pPr>
            <a:r>
              <a:t>Instead of fighting a basic slide builder,</a:t>
            </a:r>
            <a:br/>
            <a:r>
              <a:t>we now connect to Canva via MCP.</a:t>
            </a:r>
            <a:br/>
            <a:r>
              <a:t>Claude fills our branded template</a:t>
            </a:r>
            <a:br/>
            <a:r>
              <a:t>directly — layout, colors, fonts all</a:t>
            </a:r>
            <a:br/>
            <a:r>
              <a:t>preserved. Need Canva Pro to unlock.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1828800"/>
            <a:ext cx="352044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59" y="1828800"/>
            <a:ext cx="35204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10312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0">
                <a:solidFill>
                  <a:srgbClr val="0A0A0A"/>
                </a:solidFill>
                <a:latin typeface="Calibri"/>
              </a:defRPr>
            </a:pPr>
            <a:r>
              <a:t>✍️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651760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A0A0A"/>
                </a:solidFill>
                <a:latin typeface="Calibri"/>
              </a:defRPr>
            </a:pPr>
            <a:r>
              <a:t>Minimal Input Required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200400"/>
            <a:ext cx="301752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A8A84"/>
                </a:solidFill>
                <a:latin typeface="Calibri"/>
              </a:defRPr>
            </a:pPr>
            <a:r>
              <a:t>Only 5 fields to fill:</a:t>
            </a:r>
            <a:br/>
            <a:r>
              <a:t>Name, Industry, Use Case,</a:t>
            </a:r>
            <a:br/>
            <a:r>
              <a:t>Description, Brand Colors.</a:t>
            </a:r>
            <a:br/>
            <a:br/>
            <a:r>
              <a:t>System prompt handles the rest —</a:t>
            </a:r>
            <a:br/>
            <a:r>
              <a:t>trained on notso.ai's voice &amp;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5B5BD6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2606040" cy="3200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59" y="2286000"/>
            <a:ext cx="457200" cy="457200"/>
          </a:xfrm>
          <a:prstGeom prst="roundRect">
            <a:avLst/>
          </a:prstGeom>
          <a:solidFill>
            <a:srgbClr val="5B5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28600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92608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Sales fills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383280"/>
            <a:ext cx="21945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BBBBB5"/>
                </a:solidFill>
                <a:latin typeface="Calibri"/>
              </a:defRPr>
            </a:pPr>
            <a:r>
              <a:t>Name, industry,</a:t>
            </a:r>
            <a:br/>
            <a:r>
              <a:t>use case, colors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59" y="4663440"/>
            <a:ext cx="1371600" cy="320040"/>
          </a:xfrm>
          <a:prstGeom prst="roundRect">
            <a:avLst/>
          </a:prstGeom>
          <a:solidFill>
            <a:srgbClr val="5B5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466344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5 fields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20040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8A8A8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2103120"/>
            <a:ext cx="2606040" cy="3200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3320" y="2286000"/>
            <a:ext cx="457200" cy="457200"/>
          </a:xfrm>
          <a:prstGeom prst="roundRect">
            <a:avLst/>
          </a:prstGeom>
          <a:solidFill>
            <a:srgbClr val="5B5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228600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92608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Claude API generates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383280"/>
            <a:ext cx="21945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BBBBB5"/>
                </a:solidFill>
                <a:latin typeface="Calibri"/>
              </a:defRPr>
            </a:pPr>
            <a:r>
              <a:t>System prompt +</a:t>
            </a:r>
            <a:br/>
            <a:r>
              <a:t>client data → 9-page</a:t>
            </a:r>
            <a:br/>
            <a:r>
              <a:t>JSON proposal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4663440"/>
            <a:ext cx="1371600" cy="320040"/>
          </a:xfrm>
          <a:prstGeom prst="roundRect">
            <a:avLst/>
          </a:prstGeom>
          <a:solidFill>
            <a:srgbClr val="5B5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20" y="466344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AI-powered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320040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8A8A8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103120"/>
            <a:ext cx="2606040" cy="3200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0" y="2286000"/>
            <a:ext cx="457200" cy="457200"/>
          </a:xfrm>
          <a:prstGeom prst="roundRect">
            <a:avLst/>
          </a:prstGeom>
          <a:solidFill>
            <a:srgbClr val="5B5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28600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92608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Preview in browser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383280"/>
            <a:ext cx="21945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BBBBB5"/>
                </a:solidFill>
                <a:latin typeface="Calibri"/>
              </a:defRPr>
            </a:pPr>
            <a:r>
              <a:t>All 9 slides rendered</a:t>
            </a:r>
            <a:br/>
            <a:r>
              <a:t>live in HTML with</a:t>
            </a:r>
            <a:br/>
            <a:r>
              <a:t>client brand colors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4663440"/>
            <a:ext cx="1371600" cy="320040"/>
          </a:xfrm>
          <a:prstGeom prst="roundRect">
            <a:avLst/>
          </a:prstGeom>
          <a:solidFill>
            <a:srgbClr val="5B5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66344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Instant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320040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8A8A8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81159" y="2103120"/>
            <a:ext cx="2606040" cy="3200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464039" y="2286000"/>
            <a:ext cx="457200" cy="457200"/>
          </a:xfrm>
          <a:prstGeom prst="roundRect">
            <a:avLst/>
          </a:prstGeom>
          <a:solidFill>
            <a:srgbClr val="5B5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64039" y="228600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39" y="292608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Export to Canva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39" y="3383280"/>
            <a:ext cx="21945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BBBBB5"/>
                </a:solidFill>
                <a:latin typeface="Calibri"/>
              </a:defRPr>
            </a:pPr>
            <a:r>
              <a:t>Claude fills branded</a:t>
            </a:r>
            <a:br/>
            <a:r>
              <a:t>Canva template via</a:t>
            </a:r>
            <a:br/>
            <a:r>
              <a:t>MCP connection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64039" y="4663440"/>
            <a:ext cx="1371600" cy="320040"/>
          </a:xfrm>
          <a:prstGeom prst="roundRect">
            <a:avLst/>
          </a:prstGeom>
          <a:solidFill>
            <a:srgbClr val="5B5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64039" y="466344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Coming next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5B5BD6"/>
                </a:solidFill>
                <a:latin typeface="Calibri"/>
              </a:defRPr>
            </a:pPr>
            <a:r>
              <a:t>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0A0A0A"/>
                </a:solidFill>
                <a:latin typeface="Calibri"/>
              </a:defRPr>
            </a:pPr>
            <a:r>
              <a:t>Canva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8A8A84"/>
                </a:solidFill>
                <a:latin typeface="Calibri"/>
              </a:defRPr>
            </a:pPr>
            <a:r>
              <a:t>Let Claude operate Canva to produce presentation-ready proposals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521208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2C55E"/>
                </a:solidFill>
                <a:latin typeface="Calibri"/>
              </a:defRPr>
            </a:pPr>
            <a:r>
              <a:t>✅ Already 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A8A84"/>
                </a:solidFill>
                <a:latin typeface="Calibri"/>
              </a:defRPr>
            </a:pPr>
            <a:r>
              <a:t>✓  HTML app generates perfect JSON content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A8A84"/>
                </a:solidFill>
                <a:latin typeface="Calibri"/>
              </a:defRPr>
            </a:pPr>
            <a:r>
              <a:t>✓  9-page Canva template created (Projectvoorstel Fin)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49039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A8A84"/>
                </a:solidFill>
                <a:latin typeface="Calibri"/>
              </a:defRPr>
            </a:pPr>
            <a:r>
              <a:t>✓  Content mapping: template field → ETH content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5196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A8A84"/>
                </a:solidFill>
                <a:latin typeface="Calibri"/>
              </a:defRPr>
            </a:pPr>
            <a:r>
              <a:t>✓  Canva MCP connected &amp; tested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75488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A8A84"/>
                </a:solidFill>
                <a:latin typeface="Calibri"/>
              </a:defRPr>
            </a:pPr>
            <a:r>
              <a:t>✓  Claude can create + edit MCP-generated designs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011680"/>
            <a:ext cx="521208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2011680"/>
            <a:ext cx="52120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1945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🔜 Need to Unlock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7432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A0A0A"/>
                </a:solidFill>
                <a:latin typeface="Calibri"/>
              </a:defRPr>
            </a:pPr>
            <a:r>
              <a:t>Canva Pro / Teams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06324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A8A84"/>
                </a:solidFill>
                <a:latin typeface="Calibri"/>
              </a:defRPr>
            </a:pPr>
            <a:r>
              <a:t>Publish template as Brand Template → MCP can use it as 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8404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A0A0A"/>
                </a:solidFill>
                <a:latin typeface="Calibri"/>
              </a:defRPr>
            </a:pPr>
            <a:r>
              <a:t>Gemini API Key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16052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A8A84"/>
                </a:solidFill>
                <a:latin typeface="Calibri"/>
              </a:defRPr>
            </a:pPr>
            <a:r>
              <a:t>Company account for future multi-model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9377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A0A0A"/>
                </a:solidFill>
                <a:latin typeface="Calibri"/>
              </a:defRPr>
            </a:pPr>
            <a:r>
              <a:t>Mascot 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525780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A8A84"/>
                </a:solidFill>
                <a:latin typeface="Calibri"/>
              </a:defRPr>
            </a:pPr>
            <a:r>
              <a:t>Connect nano-banana-pro on Replicate for character images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What I Need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BBBBB5"/>
                </a:solidFill>
                <a:latin typeface="Calibri"/>
              </a:defRPr>
            </a:pPr>
            <a:r>
              <a:t>To complete the automation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86000"/>
            <a:ext cx="10881360" cy="1645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560320"/>
            <a:ext cx="548640" cy="548640"/>
          </a:xfrm>
          <a:prstGeom prst="roundRect">
            <a:avLst/>
          </a:prstGeom>
          <a:solidFill>
            <a:srgbClr val="5B5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5603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Canva Pro / 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971800"/>
            <a:ext cx="5486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BBBB5"/>
                </a:solidFill>
                <a:latin typeface="Calibri"/>
              </a:defRPr>
            </a:pPr>
            <a:r>
              <a:t>Required to publish Brand Templates.</a:t>
            </a:r>
            <a:br/>
            <a:r>
              <a:t>This unlocks Claude's ability to use our</a:t>
            </a:r>
            <a:br/>
            <a:r>
              <a:t>exact layout for every new proposal.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297680"/>
            <a:ext cx="10881360" cy="1645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4572000"/>
            <a:ext cx="548640" cy="548640"/>
          </a:xfrm>
          <a:prstGeom prst="roundRect">
            <a:avLst/>
          </a:prstGeom>
          <a:solidFill>
            <a:srgbClr val="5B5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45720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Gemini API 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983480"/>
            <a:ext cx="5486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BBBB5"/>
                </a:solidFill>
                <a:latin typeface="Calibri"/>
              </a:defRPr>
            </a:pPr>
            <a:r>
              <a:t>Company Google AI account for</a:t>
            </a:r>
            <a:br/>
            <a:r>
              <a:t>future multi-model pipeline.</a:t>
            </a:r>
            <a:br/>
            <a:r>
              <a:t>Currently using Claude API.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BBBBB5"/>
                </a:solidFill>
                <a:latin typeface="Calibri"/>
              </a:defRPr>
            </a:pPr>
            <a:r>
              <a:t>→  Content quality: Template fill-in → AI-generated, brand-trained proposals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BBBBB5"/>
                </a:solidFill>
                <a:latin typeface="Calibri"/>
              </a:defRPr>
            </a:pPr>
            <a:r>
              <a:t>→  Translation: Buggy partial → Full 8-language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BBBBB5"/>
                </a:solidFill>
                <a:latin typeface="Calibri"/>
              </a:defRPr>
            </a:pPr>
            <a:r>
              <a:t>→  Slides: Basic builder → Canva integration (pending Pro access)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49039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BBBBB5"/>
                </a:solidFill>
                <a:latin typeface="Calibri"/>
              </a:defRPr>
            </a:pPr>
            <a:r>
              <a:t>→  Input: 15+ fields → 5 essential fields + AI handles the 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8912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22C55E"/>
                </a:solidFill>
                <a:latin typeface="Calibri"/>
              </a:defRPr>
            </a:pPr>
            <a:r>
              <a:t>→  Next: Canva Brand Template + mascot image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035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5B5BD6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521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8A8A84"/>
                </a:solidFill>
                <a:latin typeface="Calibri"/>
              </a:defRPr>
            </a:pPr>
            <a:r>
              <a:t>notso.ai  ·  hello@notso.ai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